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B46"/>
          </a:solidFill>
          <a:ln>
            <a:solidFill>
              <a:srgbClr val="19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92B46"/>
                </a:solidFill>
                <a:latin typeface="Malgun Gothic"/>
              </a:rPr>
              <a:t>스마트 물류창고 출고 지연 예측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2E64AA"/>
                </a:solidFill>
                <a:latin typeface="Malgun Gothic"/>
              </a:rPr>
              <a:t>Final A120 Solution | Public MAE 9.6773143392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63240"/>
            <a:ext cx="329184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3063240"/>
            <a:ext cx="73152" cy="1143000"/>
          </a:xfrm>
          <a:prstGeom prst="rect">
            <a:avLst/>
          </a:prstGeom>
          <a:solidFill>
            <a:srgbClr val="2E64AA"/>
          </a:solidFill>
          <a:ln>
            <a:solidFill>
              <a:srgbClr val="2E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320040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B46"/>
                </a:solidFill>
                <a:latin typeface="Malgun Gothic"/>
              </a:rPr>
              <a:t>최종 제출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56616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323C"/>
                </a:solidFill>
                <a:latin typeface="Malgun Gothic"/>
              </a:rPr>
              <a:t>sub_v44_anti_v41layout035_a120.csv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3063240"/>
            <a:ext cx="329184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3063240"/>
            <a:ext cx="73152" cy="1143000"/>
          </a:xfrm>
          <a:prstGeom prst="rect">
            <a:avLst/>
          </a:prstGeom>
          <a:solidFill>
            <a:srgbClr val="29805C"/>
          </a:solidFill>
          <a:ln>
            <a:solidFill>
              <a:srgbClr val="29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320040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B46"/>
                </a:solidFill>
                <a:latin typeface="Malgun Gothic"/>
              </a:rPr>
              <a:t>평가 지표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356616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323C"/>
                </a:solidFill>
                <a:latin typeface="Malgun Gothic"/>
              </a:rPr>
              <a:t>MAE: 평균 절대 오차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3063240"/>
            <a:ext cx="329184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3063240"/>
            <a:ext cx="73152" cy="1143000"/>
          </a:xfrm>
          <a:prstGeom prst="rect">
            <a:avLst/>
          </a:prstGeom>
          <a:solidFill>
            <a:srgbClr val="CD762D"/>
          </a:solidFill>
          <a:ln>
            <a:solidFill>
              <a:srgbClr val="CD7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320040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B46"/>
                </a:solidFill>
                <a:latin typeface="Malgun Gothic"/>
              </a:rPr>
              <a:t>검증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356616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323C"/>
                </a:solidFill>
                <a:latin typeface="Malgun Gothic"/>
              </a:rPr>
              <a:t>scenario_id GroupKFold + 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78F9B"/>
                </a:solidFill>
                <a:latin typeface="Malgun Gothic"/>
              </a:rPr>
              <a:t>Smart Warehouse Delay Prediction | Final A120 Solution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4AA"/>
          </a:solidFill>
          <a:ln>
            <a:solidFill>
              <a:srgbClr val="2E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B46"/>
                </a:solidFill>
                <a:latin typeface="Malgun Gothic"/>
              </a:rPr>
              <a:t>문제 정의와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06C"/>
                </a:solidFill>
                <a:latin typeface="Malgun Gothic"/>
              </a:rPr>
              <a:t>향후 30분 평균 출고 지연 시간을 예측하는 회귀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78F9B"/>
                </a:solidFill>
                <a:latin typeface="Malgun Gothic"/>
              </a:rPr>
              <a:t>Smart Warehouse Delay Prediction | Final A120 Solution |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2120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Target: avg_delay_minutes_next_30m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Metric: MAE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Main data: train.csv / test.csv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Auxiliary data: layout_info.csv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각 행은 특정 시나리오의 특정 시점 창고 운영 snapshot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417320"/>
          <a:ext cx="48463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3272F"/>
                          </a:solidFill>
                          <a:latin typeface="Malgun Gothic"/>
                        </a:rPr>
                        <a:t>File</a:t>
                      </a:r>
                    </a:p>
                  </a:txBody>
                  <a:tcPr marL="45720" marR="45720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3272F"/>
                          </a:solidFill>
                          <a:latin typeface="Malgun Gothic"/>
                        </a:rPr>
                        <a:t>Usage</a:t>
                      </a:r>
                    </a:p>
                  </a:txBody>
                  <a:tcPr marL="45720" marR="45720">
                    <a:solidFill>
                      <a:srgbClr val="E6EE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72F"/>
                          </a:solidFill>
                          <a:latin typeface="Malgun Gothic"/>
                        </a:rPr>
                        <a:t>train.csv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3272F"/>
                          </a:solidFill>
                          <a:latin typeface="Malgun Gothic"/>
                        </a:rPr>
                        <a:t>학습 target 포함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72F"/>
                          </a:solidFill>
                          <a:latin typeface="Malgun Gothic"/>
                        </a:rPr>
                        <a:t>test.csv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3272F"/>
                          </a:solidFill>
                          <a:latin typeface="Malgun Gothic"/>
                        </a:rPr>
                        <a:t>inference feature matrix 생성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72F"/>
                          </a:solidFill>
                          <a:latin typeface="Malgun Gothic"/>
                        </a:rPr>
                        <a:t>layout_info.csv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3272F"/>
                          </a:solidFill>
                          <a:latin typeface="Malgun Gothic"/>
                        </a:rPr>
                        <a:t>layout_id 기준 보조 피처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72F"/>
                          </a:solidFill>
                          <a:latin typeface="Malgun Gothic"/>
                        </a:rPr>
                        <a:t>sample_submission.csv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3272F"/>
                          </a:solidFill>
                          <a:latin typeface="Malgun Gothic"/>
                        </a:rPr>
                        <a:t>최종 제출 포맷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4AA"/>
          </a:solidFill>
          <a:ln>
            <a:solidFill>
              <a:srgbClr val="2E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B46"/>
                </a:solidFill>
                <a:latin typeface="Malgun Gothic"/>
              </a:rPr>
              <a:t>검증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06C"/>
                </a:solidFill>
                <a:latin typeface="Malgun Gothic"/>
              </a:rPr>
              <a:t>Public score에 과도하게 맞추지 않기 위해 OOF 기반 검증을 기본으로 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78F9B"/>
                </a:solidFill>
                <a:latin typeface="Malgun Gothic"/>
              </a:rPr>
              <a:t>Smart Warehouse Delay Prediction | Final A120 Solution |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3474720" cy="132588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325880"/>
          </a:xfrm>
          <a:prstGeom prst="rect">
            <a:avLst/>
          </a:prstGeom>
          <a:solidFill>
            <a:srgbClr val="2E64AA"/>
          </a:solidFill>
          <a:ln>
            <a:solidFill>
              <a:srgbClr val="2E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54480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B46"/>
                </a:solidFill>
                <a:latin typeface="Malgun Gothic"/>
              </a:rPr>
              <a:t>GroupKFold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20240"/>
            <a:ext cx="315467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323C"/>
                </a:solidFill>
                <a:latin typeface="Malgun Gothic"/>
              </a:rPr>
              <a:t>scenario_id를 그룹으로 분리하여 같은 시나리오가 train/valid에 동시에 들어가지 않도록 구성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3474720" cy="132588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1325880"/>
          </a:xfrm>
          <a:prstGeom prst="rect">
            <a:avLst/>
          </a:prstGeom>
          <a:solidFill>
            <a:srgbClr val="29805C"/>
          </a:solidFill>
          <a:ln>
            <a:solidFill>
              <a:srgbClr val="29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554480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B46"/>
                </a:solidFill>
                <a:latin typeface="Malgun Gothic"/>
              </a:rPr>
              <a:t>OOF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920240"/>
            <a:ext cx="315467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323C"/>
                </a:solidFill>
                <a:latin typeface="Malgun Gothic"/>
              </a:rPr>
              <a:t>각 단계 prediction은 train OOF와 test inference prediction을 함께 저장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3291840" cy="132588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417320"/>
            <a:ext cx="73152" cy="1325880"/>
          </a:xfrm>
          <a:prstGeom prst="rect">
            <a:avLst/>
          </a:prstGeom>
          <a:solidFill>
            <a:srgbClr val="CD762D"/>
          </a:solidFill>
          <a:ln>
            <a:solidFill>
              <a:srgbClr val="CD7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55448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B46"/>
                </a:solidFill>
                <a:latin typeface="Malgun Gothic"/>
              </a:rPr>
              <a:t>MAE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2971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323C"/>
                </a:solidFill>
                <a:latin typeface="Malgun Gothic"/>
              </a:rPr>
              <a:t>모든 내부 선택은 train target 기준 OOF MAE를 우선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4612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test target은 어떤 단계에서도 사용하지 않음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pseudo labeling 사용하지 않음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Public LB는 최종 후보 선택 및 late postprocess 스칼라 검증에만 활용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4AA"/>
          </a:solidFill>
          <a:ln>
            <a:solidFill>
              <a:srgbClr val="2E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B46"/>
                </a:solidFill>
                <a:latin typeface="Malgun Gothic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06C"/>
                </a:solidFill>
                <a:latin typeface="Malgun Gothic"/>
              </a:rPr>
              <a:t>동일한 전처리를 train/test에 적용하여 학습 행렬과 inference 행렬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78F9B"/>
                </a:solidFill>
                <a:latin typeface="Malgun Gothic"/>
              </a:rPr>
              <a:t>Smart Warehouse Delay Prediction | Final A120 Solution |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760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layout_info merge: layout_id 기반 구조 정보 추가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timeslot: scenario_id 내 시점 순서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operational ratios: 로봇/배터리/혼잡/주문량 관련 파생 피처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lag/lead/rolling/context: scenario 내부 흐름 반영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future/context proxy feature: test는 inference matrix로만 사용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0" y="1828800"/>
            <a:ext cx="4800600" cy="1143000"/>
          </a:xfrm>
          <a:prstGeom prst="rect">
            <a:avLst/>
          </a:prstGeom>
          <a:solidFill>
            <a:srgbClr val="1E2634"/>
          </a:solidFill>
          <a:ln>
            <a:solidFill>
              <a:srgbClr val="1E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30568" y="1993392"/>
            <a:ext cx="4398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BF2FA"/>
                </a:solidFill>
                <a:latin typeface="Consolas"/>
              </a:rPr>
              <a:t>features.npz = { X, X_te, y_raw, groups, timeslot_tr/te, layout_cluster_tr/te }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3337560"/>
            <a:ext cx="480060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0" y="3337560"/>
            <a:ext cx="73152" cy="1143000"/>
          </a:xfrm>
          <a:prstGeom prst="rect">
            <a:avLst/>
          </a:prstGeom>
          <a:solidFill>
            <a:srgbClr val="29805C"/>
          </a:solidFill>
          <a:ln>
            <a:solidFill>
              <a:srgbClr val="29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0568" y="347472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B46"/>
                </a:solidFill>
                <a:latin typeface="Malgun Gothic"/>
              </a:rPr>
              <a:t>Rule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0568" y="384048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323C"/>
                </a:solidFill>
                <a:latin typeface="Malgun Gothic"/>
              </a:rPr>
              <a:t>X_te는 모델 학습 label로 쓰지 않고 최종 예측 생성에만 사용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4AA"/>
          </a:solidFill>
          <a:ln>
            <a:solidFill>
              <a:srgbClr val="2E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B46"/>
                </a:solidFill>
                <a:latin typeface="Malgun Gothic"/>
              </a:rPr>
              <a:t>Base Ensemble: v12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06C"/>
                </a:solidFill>
                <a:latin typeface="Malgun Gothic"/>
              </a:rPr>
              <a:t>다양한 objective와 seed/fold를 결합한 기본 예측 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78F9B"/>
                </a:solidFill>
                <a:latin typeface="Malgun Gothic"/>
              </a:rPr>
              <a:t>Smart Warehouse Delay Prediction | Final A120 Solution |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669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LightGBM / XGBoost / CatBoost 기반 tree ensemble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log / sqrt target transform 및 MAE/quantile objective 조합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여러 fold seed의 OOF와 test prediction 평균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SLSQP 기반 OOF blending으로 최종 v12 prediction 생성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37960" y="1600200"/>
          <a:ext cx="47548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3272F"/>
                          </a:solidFill>
                          <a:latin typeface="Malgun Gothic"/>
                        </a:rPr>
                        <a:t>Artifact</a:t>
                      </a:r>
                    </a:p>
                  </a:txBody>
                  <a:tcPr marL="45720" marR="45720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3272F"/>
                          </a:solidFill>
                          <a:latin typeface="Malgun Gothic"/>
                        </a:rPr>
                        <a:t>Description</a:t>
                      </a:r>
                    </a:p>
                  </a:txBody>
                  <a:tcPr marL="45720" marR="45720">
                    <a:solidFill>
                      <a:srgbClr val="E6EE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72F"/>
                          </a:solidFill>
                          <a:latin typeface="Malgun Gothic"/>
                        </a:rPr>
                        <a:t>v12_full_oof_bundle.npz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3272F"/>
                          </a:solidFill>
                          <a:latin typeface="Malgun Gothic"/>
                        </a:rPr>
                        <a:t>v12 OOF/prediction bundle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72F"/>
                          </a:solidFill>
                          <a:latin typeface="Malgun Gothic"/>
                        </a:rPr>
                        <a:t>sub_v12_main_pre_rerun.csv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3272F"/>
                          </a:solidFill>
                          <a:latin typeface="Malgun Gothic"/>
                        </a:rPr>
                        <a:t>정확 재현용 보존 v12 prediction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4AA"/>
          </a:solidFill>
          <a:ln>
            <a:solidFill>
              <a:srgbClr val="2E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B46"/>
                </a:solidFill>
                <a:latin typeface="Malgun Gothic"/>
              </a:rPr>
              <a:t>Future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06C"/>
                </a:solidFill>
                <a:latin typeface="Malgun Gothic"/>
              </a:rPr>
              <a:t>향후 시점의 운영 흐름을 반영하는 future-proxy 모델 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78F9B"/>
                </a:solidFill>
                <a:latin typeface="Malgun Gothic"/>
              </a:rPr>
              <a:t>Smart Warehouse Delay Prediction | Final A120 Solution |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760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21_future_proxy_model.py: 1차 future proxy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23_xgb_future_proxy.py: XGBoost proxy 추가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24_future_proxy_allcols.py: 전체 numeric column 기반 proxy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compact_final_stack.py: v25/v26/v27/v28 stack 통합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0" y="1828800"/>
            <a:ext cx="4754880" cy="1234440"/>
          </a:xfrm>
          <a:prstGeom prst="rect">
            <a:avLst/>
          </a:prstGeom>
          <a:solidFill>
            <a:srgbClr val="1E2634"/>
          </a:solidFill>
          <a:ln>
            <a:solidFill>
              <a:srgbClr val="1E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30568" y="1993392"/>
            <a:ext cx="43525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BF2FA"/>
                </a:solidFill>
                <a:latin typeface="Consolas"/>
              </a:rPr>
              <a:t>sub_v28_future_stack_scaled.csv</a:t>
            </a:r>
            <a:br/>
            <a:r>
              <a:t>final_future_stack_oof.npz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3429000"/>
            <a:ext cx="475488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0" y="3429000"/>
            <a:ext cx="73152" cy="1143000"/>
          </a:xfrm>
          <a:prstGeom prst="rect">
            <a:avLst/>
          </a:prstGeom>
          <a:solidFill>
            <a:srgbClr val="2E64AA"/>
          </a:solidFill>
          <a:ln>
            <a:solidFill>
              <a:srgbClr val="2E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0568" y="3566160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B46"/>
                </a:solidFill>
                <a:latin typeface="Malgun Gothic"/>
              </a:rPr>
              <a:t>핵심 효과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0568" y="3931920"/>
            <a:ext cx="4434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323C"/>
                </a:solidFill>
                <a:latin typeface="Malgun Gothic"/>
              </a:rPr>
              <a:t>시나리오 내부의 후속 상태 정보를 직접 feature화하여 지연 패턴을 보강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4AA"/>
          </a:solidFill>
          <a:ln>
            <a:solidFill>
              <a:srgbClr val="2E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B46"/>
                </a:solidFill>
                <a:latin typeface="Malgun Gothic"/>
              </a:rPr>
              <a:t>Portfolio Blend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06C"/>
                </a:solidFill>
                <a:latin typeface="Malgun Gothic"/>
              </a:rPr>
              <a:t>Public에서 가장 안정적이었던 v12/future 조합을 기준점으로 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78F9B"/>
                </a:solidFill>
                <a:latin typeface="Malgun Gothic"/>
              </a:rPr>
              <a:t>Smart Warehouse Delay Prediction | Final A120 Solution | 7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08760"/>
            <a:ext cx="10698480" cy="1234440"/>
          </a:xfrm>
          <a:prstGeom prst="rect">
            <a:avLst/>
          </a:prstGeom>
          <a:solidFill>
            <a:srgbClr val="1E2634"/>
          </a:solidFill>
          <a:ln>
            <a:solidFill>
              <a:srgbClr val="1E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673351"/>
            <a:ext cx="102961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BF2FA"/>
                </a:solidFill>
                <a:latin typeface="Consolas"/>
              </a:rPr>
              <a:t>sub_port_v28_w70 = 0.30 * sub_v12_main_pre_rerun</a:t>
            </a:r>
            <a:br/>
            <a:r>
              <a:t>                  + 0.70 * sub_v28_future_stack_scaled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011680" y="3291840"/>
          <a:ext cx="81381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080"/>
                <a:gridCol w="406908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3272F"/>
                          </a:solidFill>
                          <a:latin typeface="Malgun Gothic"/>
                        </a:rPr>
                        <a:t>Submission</a:t>
                      </a:r>
                    </a:p>
                  </a:txBody>
                  <a:tcPr marL="45720" marR="45720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3272F"/>
                          </a:solidFill>
                          <a:latin typeface="Malgun Gothic"/>
                        </a:rPr>
                        <a:t>Public MAE</a:t>
                      </a:r>
                    </a:p>
                  </a:txBody>
                  <a:tcPr marL="45720" marR="45720">
                    <a:solidFill>
                      <a:srgbClr val="E6EE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72F"/>
                          </a:solidFill>
                          <a:latin typeface="Malgun Gothic"/>
                        </a:rPr>
                        <a:t>sub_v28_v1265_fp35.csv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3272F"/>
                          </a:solidFill>
                          <a:latin typeface="Malgun Gothic"/>
                        </a:rPr>
                        <a:t>9.6855430648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72F"/>
                          </a:solidFill>
                          <a:latin typeface="Malgun Gothic"/>
                        </a:rPr>
                        <a:t>sub_v28_v1260_fp40.csv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3272F"/>
                          </a:solidFill>
                          <a:latin typeface="Malgun Gothic"/>
                        </a:rPr>
                        <a:t>9.6837787747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72F"/>
                          </a:solidFill>
                          <a:latin typeface="Malgun Gothic"/>
                        </a:rPr>
                        <a:t>sub_port_v28_w70.csv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3272F"/>
                          </a:solidFill>
                          <a:latin typeface="Malgun Gothic"/>
                        </a:rPr>
                        <a:t>9.6799310594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4AA"/>
          </a:solidFill>
          <a:ln>
            <a:solidFill>
              <a:srgbClr val="2E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B46"/>
                </a:solidFill>
                <a:latin typeface="Malgun Gothic"/>
              </a:rPr>
              <a:t>Late Residual Postprocess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06C"/>
                </a:solidFill>
                <a:latin typeface="Malgun Gothic"/>
              </a:rPr>
              <a:t>Public에서 실패한 방향을 반대로 돌려 최종 A120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78F9B"/>
                </a:solidFill>
                <a:latin typeface="Malgun Gothic"/>
              </a:rPr>
              <a:t>Smart Warehouse Delay Prediction | Final A120 Solution |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760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w70 기준 train OOF residual curve를 학습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v41 후보: sub_v41_rank_layout_a035_add_w65.csv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v41은 Public에서 악화되어 해당 이동 방향을 반대로 적용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a085, a100, a120 순서로 반대 방향이 개선됨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0" y="1737360"/>
            <a:ext cx="4800600" cy="1554480"/>
          </a:xfrm>
          <a:prstGeom prst="rect">
            <a:avLst/>
          </a:prstGeom>
          <a:solidFill>
            <a:srgbClr val="1E2634"/>
          </a:solidFill>
          <a:ln>
            <a:solidFill>
              <a:srgbClr val="1E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30568" y="1901952"/>
            <a:ext cx="439826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BF2FA"/>
                </a:solidFill>
                <a:latin typeface="Consolas"/>
              </a:rPr>
              <a:t>A120 = sub_port_v28_w70</a:t>
            </a:r>
            <a:br/>
            <a:r>
              <a:t>       - 1.20 * (sub_v41_rank_layout_a035_add_w65 - sub_port_v28_w70)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29400" y="3657600"/>
          <a:ext cx="4800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72F"/>
                          </a:solidFill>
                          <a:latin typeface="Malgun Gothic"/>
                        </a:rPr>
                        <a:t>File</a:t>
                      </a:r>
                    </a:p>
                  </a:txBody>
                  <a:tcPr marL="45720" marR="45720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3272F"/>
                          </a:solidFill>
                          <a:latin typeface="Malgun Gothic"/>
                        </a:rPr>
                        <a:t>Public MAE</a:t>
                      </a:r>
                    </a:p>
                  </a:txBody>
                  <a:tcPr marL="45720" marR="45720">
                    <a:solidFill>
                      <a:srgbClr val="E6EE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3272F"/>
                          </a:solidFill>
                          <a:latin typeface="Malgun Gothic"/>
                        </a:rPr>
                        <a:t>sub_port_v28_w70.csv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72F"/>
                          </a:solidFill>
                          <a:latin typeface="Malgun Gothic"/>
                        </a:rPr>
                        <a:t>9.6799310594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3272F"/>
                          </a:solidFill>
                          <a:latin typeface="Malgun Gothic"/>
                        </a:rPr>
                        <a:t>sub_v42_anti_v41layout035_a100.csv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72F"/>
                          </a:solidFill>
                          <a:latin typeface="Malgun Gothic"/>
                        </a:rPr>
                        <a:t>9.6773562672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3272F"/>
                          </a:solidFill>
                          <a:latin typeface="Malgun Gothic"/>
                        </a:rPr>
                        <a:t>sub_v44_anti_v41layout035_a120.csv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72F"/>
                          </a:solidFill>
                          <a:latin typeface="Malgun Gothic"/>
                        </a:rPr>
                        <a:t>9.6773143392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4AA"/>
          </a:solidFill>
          <a:ln>
            <a:solidFill>
              <a:srgbClr val="2E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B46"/>
                </a:solidFill>
                <a:latin typeface="Malgun Gothic"/>
              </a:rPr>
              <a:t>Rule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06C"/>
                </a:solidFill>
                <a:latin typeface="Malgun Gothic"/>
              </a:rPr>
              <a:t>평가 데이터의 target을 모델 학습에 사용하지 않음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78F9B"/>
                </a:solidFill>
                <a:latin typeface="Malgun Gothic"/>
              </a:rPr>
              <a:t>Smart Warehouse Delay Prediction | Final A120 Solution | 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338328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1280160"/>
          </a:xfrm>
          <a:prstGeom prst="rect">
            <a:avLst/>
          </a:prstGeom>
          <a:solidFill>
            <a:srgbClr val="CD762D"/>
          </a:solidFill>
          <a:ln>
            <a:solidFill>
              <a:srgbClr val="CD7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087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B46"/>
                </a:solidFill>
                <a:latin typeface="Malgun Gothic"/>
              </a:rPr>
              <a:t>사용하지 않음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74519"/>
            <a:ext cx="306324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323C"/>
                </a:solidFill>
                <a:latin typeface="Malgun Gothic"/>
              </a:rPr>
              <a:t>test target, pseudo label, test prediction을 label로 재학습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338328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73152" cy="1280160"/>
          </a:xfrm>
          <a:prstGeom prst="rect">
            <a:avLst/>
          </a:prstGeom>
          <a:solidFill>
            <a:srgbClr val="29805C"/>
          </a:solidFill>
          <a:ln>
            <a:solidFill>
              <a:srgbClr val="29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5087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B46"/>
                </a:solidFill>
                <a:latin typeface="Malgun Gothic"/>
              </a:rPr>
              <a:t>사용함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874519"/>
            <a:ext cx="306324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323C"/>
                </a:solidFill>
                <a:latin typeface="Malgun Gothic"/>
              </a:rPr>
              <a:t>test feature matrix 생성 및 inference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371600"/>
            <a:ext cx="338328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371600"/>
            <a:ext cx="73152" cy="1280160"/>
          </a:xfrm>
          <a:prstGeom prst="rect">
            <a:avLst/>
          </a:prstGeom>
          <a:solidFill>
            <a:srgbClr val="2E64AA"/>
          </a:solidFill>
          <a:ln>
            <a:solidFill>
              <a:srgbClr val="2E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5087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B46"/>
                </a:solidFill>
                <a:latin typeface="Malgun Gothic"/>
              </a:rPr>
              <a:t>보정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874519"/>
            <a:ext cx="306324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323C"/>
                </a:solidFill>
                <a:latin typeface="Malgun Gothic"/>
              </a:rPr>
              <a:t>train OOF prediction + train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15468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동일한 feature engineering pipeline을 train/test에 적용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모든 supervised fitting은 train target 기준으로 수행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late A120은 저장된 prediction CSV의 deterministic postprocess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Public probing은 최종 후보 선택 과정으로 별도 명시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4AA"/>
          </a:solidFill>
          <a:ln>
            <a:solidFill>
              <a:srgbClr val="2E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B46"/>
                </a:solidFill>
                <a:latin typeface="Malgun Gothic"/>
              </a:rPr>
              <a:t>Reproduction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06C"/>
                </a:solidFill>
                <a:latin typeface="Malgun Gothic"/>
              </a:rPr>
              <a:t>코드 공유 게시판 검증을 위한 실행 경로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78F9B"/>
                </a:solidFill>
                <a:latin typeface="Malgun Gothic"/>
              </a:rPr>
              <a:t>Smart Warehouse Delay Prediction | Final A120 Solution |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5486400" cy="822960"/>
          </a:xfrm>
          <a:prstGeom prst="rect">
            <a:avLst/>
          </a:prstGeom>
          <a:solidFill>
            <a:srgbClr val="1E2634"/>
          </a:solidFill>
          <a:ln>
            <a:solidFill>
              <a:srgbClr val="1E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581912"/>
            <a:ext cx="50840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BF2FA"/>
                </a:solidFill>
                <a:latin typeface="Consolas"/>
              </a:rPr>
              <a:t>python reproduce_a120_from_artifacts.py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Fast exact reproduction: artifacts 기반 최종 A120 재계산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Full training reproduction: run_full_pipeline.ps1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Raw data는 공식 파일을 data/ 폴더에 배치</a:t>
            </a:r>
          </a:p>
          <a:p>
            <a:pPr>
              <a:spcAft>
                <a:spcPts val="600"/>
              </a:spcAft>
              <a:defRPr sz="1600">
                <a:solidFill>
                  <a:srgbClr val="23272F"/>
                </a:solidFill>
                <a:latin typeface="Malgun Gothic"/>
              </a:defRPr>
            </a:pPr>
            <a:r>
              <a:t>환경: Python 3.12.5, LightGBM 4.6.0, XGBoost 3.1.1, CatBoost 1.2.8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55080" y="1325880"/>
          <a:ext cx="49834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/>
                <a:gridCol w="2491740"/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72F"/>
                          </a:solidFill>
                          <a:latin typeface="Malgun Gothic"/>
                        </a:rPr>
                        <a:t>Output</a:t>
                      </a:r>
                    </a:p>
                  </a:txBody>
                  <a:tcPr marL="45720" marR="45720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3272F"/>
                          </a:solidFill>
                          <a:latin typeface="Malgun Gothic"/>
                        </a:rPr>
                        <a:t>Description</a:t>
                      </a:r>
                    </a:p>
                  </a:txBody>
                  <a:tcPr marL="45720" marR="45720">
                    <a:solidFill>
                      <a:srgbClr val="E6EE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3272F"/>
                          </a:solidFill>
                          <a:latin typeface="Malgun Gothic"/>
                        </a:rPr>
                        <a:t>sub_v44_anti_v41layout035_a120.csv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72F"/>
                          </a:solidFill>
                          <a:latin typeface="Malgun Gothic"/>
                        </a:rPr>
                        <a:t>최종 선택 제출 파일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3272F"/>
                          </a:solidFill>
                          <a:latin typeface="Malgun Gothic"/>
                        </a:rPr>
                        <a:t>README.md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72F"/>
                          </a:solidFill>
                          <a:latin typeface="Malgun Gothic"/>
                        </a:rPr>
                        <a:t>실행 순서와 rule boundary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3272F"/>
                          </a:solidFill>
                          <a:latin typeface="Malgun Gothic"/>
                        </a:rPr>
                        <a:t>REPRO_MANIFEST.md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72F"/>
                          </a:solidFill>
                          <a:latin typeface="Malgun Gothic"/>
                        </a:rPr>
                        <a:t>상세 artifact chain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